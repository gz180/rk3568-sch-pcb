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6" r:id="rId3"/>
    <p:sldId id="307" r:id="rId5"/>
    <p:sldId id="348" r:id="rId6"/>
    <p:sldId id="306" r:id="rId7"/>
    <p:sldId id="377" r:id="rId8"/>
    <p:sldId id="378" r:id="rId9"/>
    <p:sldId id="290" r:id="rId10"/>
    <p:sldId id="376" r:id="rId11"/>
    <p:sldId id="379" r:id="rId12"/>
    <p:sldId id="345" r:id="rId13"/>
    <p:sldId id="291" r:id="rId14"/>
    <p:sldId id="380" r:id="rId15"/>
    <p:sldId id="296" r:id="rId16"/>
    <p:sldId id="297" r:id="rId17"/>
    <p:sldId id="374" r:id="rId18"/>
    <p:sldId id="399" r:id="rId19"/>
    <p:sldId id="381" r:id="rId20"/>
    <p:sldId id="382" r:id="rId21"/>
    <p:sldId id="383" r:id="rId22"/>
    <p:sldId id="400" r:id="rId23"/>
    <p:sldId id="372" r:id="rId24"/>
    <p:sldId id="408" r:id="rId25"/>
    <p:sldId id="278" r:id="rId26"/>
    <p:sldId id="281" r:id="rId27"/>
    <p:sldId id="280" r:id="rId28"/>
  </p:sldIdLst>
  <p:sldSz cx="12192000" cy="6858000"/>
  <p:notesSz cx="6858000" cy="9144000"/>
  <p:embeddedFontLst>
    <p:embeddedFont>
      <p:font typeface="Montserrat ExtraBold" panose="00000900000000000000"/>
      <p:bold r:id="rId33"/>
      <p:boldItalic r:id="rId34"/>
    </p:embeddedFont>
    <p:embeddedFont>
      <p:font typeface="Montserrat Medium" panose="00000600000000000000"/>
      <p:regular r:id="rId35"/>
    </p:embeddedFont>
    <p:embeddedFont>
      <p:font typeface="Montserrat" panose="00000500000000000000"/>
      <p:regular r:id="rId36"/>
    </p:embeddedFont>
    <p:embeddedFont>
      <p:font typeface="Calibri" panose="020F0502020204030204"/>
      <p:regular r:id="rId37"/>
      <p:bold r:id="rId38"/>
      <p:italic r:id="rId39"/>
      <p:boldItalic r:id="rId40"/>
    </p:embeddedFont>
    <p:embeddedFont>
      <p:font typeface="Wingdings 3" panose="05040102010807070707" charset="0"/>
      <p:regular r:id="rId41"/>
    </p:embeddedFont>
    <p:embeddedFont>
      <p:font typeface="微软雅黑" panose="020B0503020204020204" charset="-122"/>
      <p:regular r:id="rId42"/>
    </p:embeddedFont>
  </p:embeddedFontLst>
  <p:custDataLst>
    <p:tags r:id="rId4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037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9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01" y="48"/>
      </p:cViewPr>
      <p:guideLst>
        <p:guide orient="horz" pos="2037"/>
        <p:guide pos="384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7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92.xml"/><Relationship Id="rId42" Type="http://schemas.openxmlformats.org/officeDocument/2006/relationships/font" Target="fonts/font10.fntdata"/><Relationship Id="rId41" Type="http://schemas.openxmlformats.org/officeDocument/2006/relationships/font" Target="fonts/font9.fntdata"/><Relationship Id="rId40" Type="http://schemas.openxmlformats.org/officeDocument/2006/relationships/font" Target="fonts/font8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466757-09C7-4AAF-BA8E-20856F6BDAF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A797E-665A-4D14-898A-FB4C36E0D3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f0e1f599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3" name="Google Shape;83;g5f0e1f599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f0e1f5990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9" name="Google Shape;99;g5f0e1f5990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7a2f66f06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27a2f66f06_1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g127a2f66f06_1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25434424f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67" name="Google Shape;367;g125434424f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25434424f1_0_6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83" name="Google Shape;383;g125434424f1_0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25434424f1_0_4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78" name="Google Shape;378;g125434424f1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8475" y="855230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928400" y="3160656"/>
            <a:ext cx="6137100" cy="11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894800" y="5249419"/>
            <a:ext cx="2757300" cy="6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 panose="00000500000000000000"/>
              <a:buNone/>
              <a:defRPr sz="2000" b="1">
                <a:solidFill>
                  <a:schemeClr val="dk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4118300" y="5145025"/>
            <a:ext cx="997500" cy="99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 Background">
  <p:cSld name="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57663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mages">
  <p:cSld name="Background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57663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>
            <a:spLocks noGrp="1"/>
          </p:cNvSpPr>
          <p:nvPr>
            <p:ph type="pic" idx="2"/>
          </p:nvPr>
        </p:nvSpPr>
        <p:spPr>
          <a:xfrm>
            <a:off x="1438800" y="2200800"/>
            <a:ext cx="2456400" cy="2456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" name="Google Shape;22;p4"/>
          <p:cNvSpPr>
            <a:spLocks noGrp="1"/>
          </p:cNvSpPr>
          <p:nvPr>
            <p:ph type="pic" idx="3"/>
          </p:nvPr>
        </p:nvSpPr>
        <p:spPr>
          <a:xfrm>
            <a:off x="4867800" y="2200800"/>
            <a:ext cx="2456400" cy="2456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" name="Google Shape;23;p4"/>
          <p:cNvSpPr>
            <a:spLocks noGrp="1"/>
          </p:cNvSpPr>
          <p:nvPr>
            <p:ph type="pic" idx="4"/>
          </p:nvPr>
        </p:nvSpPr>
        <p:spPr>
          <a:xfrm>
            <a:off x="8296800" y="2200800"/>
            <a:ext cx="2456400" cy="2456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137900" y="4898031"/>
            <a:ext cx="30582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335900" y="5329351"/>
            <a:ext cx="26622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title" idx="5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Images">
  <p:cSld name="Background_2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57663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896750" y="4898031"/>
            <a:ext cx="30582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2094750" y="5329351"/>
            <a:ext cx="26622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1741350" y="1441500"/>
            <a:ext cx="3369000" cy="3369000"/>
          </a:xfrm>
          <a:prstGeom prst="roundRect">
            <a:avLst>
              <a:gd name="adj" fmla="val 2274"/>
            </a:avLst>
          </a:prstGeom>
          <a:noFill/>
          <a:ln>
            <a:noFill/>
          </a:ln>
        </p:spPr>
      </p:sp>
      <p:sp>
        <p:nvSpPr>
          <p:cNvPr id="32" name="Google Shape;32;p5"/>
          <p:cNvSpPr txBox="1">
            <a:spLocks noGrp="1"/>
          </p:cNvSpPr>
          <p:nvPr>
            <p:ph type="title" idx="3"/>
          </p:nvPr>
        </p:nvSpPr>
        <p:spPr>
          <a:xfrm>
            <a:off x="6987500" y="4898031"/>
            <a:ext cx="30582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7185500" y="5329351"/>
            <a:ext cx="26622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34" name="Google Shape;34;p5"/>
          <p:cNvSpPr>
            <a:spLocks noGrp="1"/>
          </p:cNvSpPr>
          <p:nvPr>
            <p:ph type="pic" idx="5"/>
          </p:nvPr>
        </p:nvSpPr>
        <p:spPr>
          <a:xfrm>
            <a:off x="6832100" y="1441375"/>
            <a:ext cx="3369000" cy="3369000"/>
          </a:xfrm>
          <a:prstGeom prst="roundRect">
            <a:avLst>
              <a:gd name="adj" fmla="val 2274"/>
            </a:avLst>
          </a:prstGeom>
          <a:noFill/>
          <a:ln>
            <a:noFill/>
          </a:ln>
        </p:spPr>
      </p:sp>
      <p:sp>
        <p:nvSpPr>
          <p:cNvPr id="35" name="Google Shape;35;p5"/>
          <p:cNvSpPr txBox="1">
            <a:spLocks noGrp="1"/>
          </p:cNvSpPr>
          <p:nvPr>
            <p:ph type="title" idx="6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Text Only">
  <p:cSld name="Background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57663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57950" y="1436625"/>
            <a:ext cx="10942800" cy="20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●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○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■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●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○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■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●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○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■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subTitle" idx="2"/>
          </p:nvPr>
        </p:nvSpPr>
        <p:spPr>
          <a:xfrm>
            <a:off x="674450" y="783863"/>
            <a:ext cx="7788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ontserrat" panose="00000500000000000000"/>
              <a:buNone/>
              <a:defRPr sz="1600" b="1">
                <a:solidFill>
                  <a:schemeClr val="dk2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ackground_1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7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57663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641675" y="319784"/>
            <a:ext cx="6164400" cy="3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2405375" y="1923078"/>
            <a:ext cx="56046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2405375" y="2626700"/>
            <a:ext cx="5918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>
  <p:cSld name="Background_1_1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8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57663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709950" y="2652864"/>
            <a:ext cx="10772100" cy="7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1406250" y="3424175"/>
            <a:ext cx="936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- White">
  <p:cSld name="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9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41642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1516590" y="6356350"/>
            <a:ext cx="53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3" name="Google Shape;53;p9"/>
          <p:cNvSpPr/>
          <p:nvPr/>
        </p:nvSpPr>
        <p:spPr>
          <a:xfrm>
            <a:off x="0" y="963930"/>
            <a:ext cx="12192000" cy="58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657950" y="1436625"/>
            <a:ext cx="10942800" cy="20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●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○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■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●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○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■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●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○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Montserrat Medium" panose="00000600000000000000"/>
              <a:buChar char="■"/>
              <a:defRPr>
                <a:solidFill>
                  <a:srgbClr val="262626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- White 1 1">
  <p:cSld name="Header_1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1" descr="Altium_logo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41642" y="319768"/>
            <a:ext cx="1385088" cy="29618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516590" y="6356350"/>
            <a:ext cx="535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70" name="Google Shape;70;p11"/>
          <p:cNvSpPr/>
          <p:nvPr/>
        </p:nvSpPr>
        <p:spPr>
          <a:xfrm>
            <a:off x="0" y="963930"/>
            <a:ext cx="12192000" cy="58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1438800" y="2200800"/>
            <a:ext cx="2456400" cy="2456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1"/>
          <p:cNvSpPr>
            <a:spLocks noGrp="1"/>
          </p:cNvSpPr>
          <p:nvPr>
            <p:ph type="pic" idx="3"/>
          </p:nvPr>
        </p:nvSpPr>
        <p:spPr>
          <a:xfrm>
            <a:off x="4867800" y="2200800"/>
            <a:ext cx="2456400" cy="2456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11"/>
          <p:cNvSpPr>
            <a:spLocks noGrp="1"/>
          </p:cNvSpPr>
          <p:nvPr>
            <p:ph type="pic" idx="4"/>
          </p:nvPr>
        </p:nvSpPr>
        <p:spPr>
          <a:xfrm>
            <a:off x="8296800" y="2200800"/>
            <a:ext cx="2456400" cy="2456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11"/>
          <p:cNvSpPr txBox="1">
            <a:spLocks noGrp="1"/>
          </p:cNvSpPr>
          <p:nvPr>
            <p:ph type="title" idx="5"/>
          </p:nvPr>
        </p:nvSpPr>
        <p:spPr>
          <a:xfrm>
            <a:off x="1137900" y="4898031"/>
            <a:ext cx="30582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None/>
              <a:defRPr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1335900" y="5329351"/>
            <a:ext cx="26622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77" name="Google Shape;77;p11"/>
          <p:cNvSpPr txBox="1">
            <a:spLocks noGrp="1"/>
          </p:cNvSpPr>
          <p:nvPr>
            <p:ph type="title" idx="6"/>
          </p:nvPr>
        </p:nvSpPr>
        <p:spPr>
          <a:xfrm>
            <a:off x="4566900" y="4898031"/>
            <a:ext cx="30582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None/>
              <a:defRPr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>
            <a:spLocks noGrp="1"/>
          </p:cNvSpPr>
          <p:nvPr>
            <p:ph type="subTitle" idx="7"/>
          </p:nvPr>
        </p:nvSpPr>
        <p:spPr>
          <a:xfrm>
            <a:off x="4764900" y="5329351"/>
            <a:ext cx="26622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  <p:sp>
        <p:nvSpPr>
          <p:cNvPr id="79" name="Google Shape;79;p11"/>
          <p:cNvSpPr txBox="1">
            <a:spLocks noGrp="1"/>
          </p:cNvSpPr>
          <p:nvPr>
            <p:ph type="title" idx="8"/>
          </p:nvPr>
        </p:nvSpPr>
        <p:spPr>
          <a:xfrm>
            <a:off x="8071900" y="4898031"/>
            <a:ext cx="30582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None/>
              <a:defRPr>
                <a:solidFill>
                  <a:srgbClr val="26262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>
            <a:spLocks noGrp="1"/>
          </p:cNvSpPr>
          <p:nvPr>
            <p:ph type="subTitle" idx="9"/>
          </p:nvPr>
        </p:nvSpPr>
        <p:spPr>
          <a:xfrm>
            <a:off x="8269900" y="5329351"/>
            <a:ext cx="26622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64200" y="389100"/>
            <a:ext cx="91473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ontserrat ExtraBold" panose="00000900000000000000"/>
              <a:buNone/>
              <a:defRPr sz="2700">
                <a:solidFill>
                  <a:schemeClr val="lt1"/>
                </a:solidFill>
                <a:latin typeface="Montserrat ExtraBold" panose="00000900000000000000"/>
                <a:ea typeface="Montserrat ExtraBold" panose="00000900000000000000"/>
                <a:cs typeface="Montserrat ExtraBold" panose="00000900000000000000"/>
                <a:sym typeface="Montserrat ExtraBold" panose="000009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18800" y="1590550"/>
            <a:ext cx="6921900" cy="3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●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○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■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●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○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■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●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○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Char char="■"/>
              <a:defRPr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5.xml"/><Relationship Id="rId7" Type="http://schemas.openxmlformats.org/officeDocument/2006/relationships/image" Target="../media/image9.png"/><Relationship Id="rId6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tags" Target="../tags/tag3.xml"/><Relationship Id="rId3" Type="http://schemas.openxmlformats.org/officeDocument/2006/relationships/image" Target="../media/image7.png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8.xml"/><Relationship Id="rId7" Type="http://schemas.openxmlformats.org/officeDocument/2006/relationships/image" Target="../media/image13.png"/><Relationship Id="rId6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tags" Target="../tags/tag8.xml"/><Relationship Id="rId3" Type="http://schemas.openxmlformats.org/officeDocument/2006/relationships/image" Target="../media/image11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tags" Target="../tags/tag12.xml"/><Relationship Id="rId3" Type="http://schemas.openxmlformats.org/officeDocument/2006/relationships/image" Target="../media/image14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17.xml"/><Relationship Id="rId7" Type="http://schemas.openxmlformats.org/officeDocument/2006/relationships/image" Target="../media/image18.jpe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17.png"/><Relationship Id="rId3" Type="http://schemas.openxmlformats.org/officeDocument/2006/relationships/tags" Target="../tags/tag14.xml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6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21.png"/><Relationship Id="rId7" Type="http://schemas.openxmlformats.org/officeDocument/2006/relationships/tags" Target="../tags/tag22.xml"/><Relationship Id="rId6" Type="http://schemas.openxmlformats.org/officeDocument/2006/relationships/image" Target="../media/image20.png"/><Relationship Id="rId5" Type="http://schemas.openxmlformats.org/officeDocument/2006/relationships/tags" Target="../tags/tag21.xml"/><Relationship Id="rId4" Type="http://schemas.openxmlformats.org/officeDocument/2006/relationships/image" Target="../media/image19.png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tags" Target="../tags/tag25.xml"/><Relationship Id="rId3" Type="http://schemas.openxmlformats.org/officeDocument/2006/relationships/image" Target="../media/image22.jpe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tags" Target="../tags/tag29.xml"/><Relationship Id="rId4" Type="http://schemas.openxmlformats.org/officeDocument/2006/relationships/image" Target="../media/image24.png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../media/image28.png"/><Relationship Id="rId7" Type="http://schemas.openxmlformats.org/officeDocument/2006/relationships/tags" Target="../tags/tag34.xml"/><Relationship Id="rId6" Type="http://schemas.openxmlformats.org/officeDocument/2006/relationships/image" Target="../media/image27.png"/><Relationship Id="rId5" Type="http://schemas.openxmlformats.org/officeDocument/2006/relationships/tags" Target="../tags/tag33.xml"/><Relationship Id="rId4" Type="http://schemas.openxmlformats.org/officeDocument/2006/relationships/image" Target="../media/image26.png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image" Target="../media/image31.emf"/><Relationship Id="rId7" Type="http://schemas.openxmlformats.org/officeDocument/2006/relationships/tags" Target="../tags/tag40.xml"/><Relationship Id="rId6" Type="http://schemas.openxmlformats.org/officeDocument/2006/relationships/image" Target="../media/image30.emf"/><Relationship Id="rId5" Type="http://schemas.openxmlformats.org/officeDocument/2006/relationships/tags" Target="../tags/tag39.xml"/><Relationship Id="rId4" Type="http://schemas.openxmlformats.org/officeDocument/2006/relationships/image" Target="../media/image29.emf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image" Target="../media/image32.emf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image" Target="../media/image33.emf"/><Relationship Id="rId7" Type="http://schemas.openxmlformats.org/officeDocument/2006/relationships/tags" Target="../tags/tag49.xml"/><Relationship Id="rId6" Type="http://schemas.openxmlformats.org/officeDocument/2006/relationships/image" Target="../media/image26.png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51.xml"/><Relationship Id="rId10" Type="http://schemas.openxmlformats.org/officeDocument/2006/relationships/image" Target="../media/image34.png"/><Relationship Id="rId1" Type="http://schemas.openxmlformats.org/officeDocument/2006/relationships/tags" Target="../tags/tag4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image" Target="../media/image36.png"/><Relationship Id="rId5" Type="http://schemas.openxmlformats.org/officeDocument/2006/relationships/tags" Target="../tags/tag55.xml"/><Relationship Id="rId4" Type="http://schemas.openxmlformats.org/officeDocument/2006/relationships/image" Target="../media/image35.png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0" Type="http://schemas.openxmlformats.org/officeDocument/2006/relationships/notesSlide" Target="../notesSlides/notesSlide13.xml"/><Relationship Id="rId1" Type="http://schemas.openxmlformats.org/officeDocument/2006/relationships/tags" Target="../tags/tag5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37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8.xml"/><Relationship Id="rId7" Type="http://schemas.openxmlformats.org/officeDocument/2006/relationships/tags" Target="../tags/tag66.xml"/><Relationship Id="rId6" Type="http://schemas.openxmlformats.org/officeDocument/2006/relationships/image" Target="../media/image40.png"/><Relationship Id="rId5" Type="http://schemas.openxmlformats.org/officeDocument/2006/relationships/tags" Target="../tags/tag65.xml"/><Relationship Id="rId4" Type="http://schemas.openxmlformats.org/officeDocument/2006/relationships/image" Target="../media/image39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tags" Target="../tags/tag70.xml"/><Relationship Id="rId4" Type="http://schemas.openxmlformats.org/officeDocument/2006/relationships/image" Target="../media/image41.png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tags" Target="../tags/tag74.xml"/><Relationship Id="rId4" Type="http://schemas.openxmlformats.org/officeDocument/2006/relationships/image" Target="../media/image43.png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tags" Target="../tags/tag78.xml"/><Relationship Id="rId4" Type="http://schemas.openxmlformats.org/officeDocument/2006/relationships/image" Target="../media/image45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tags" Target="../tags/tag82.xml"/><Relationship Id="rId4" Type="http://schemas.openxmlformats.org/officeDocument/2006/relationships/image" Target="../media/image47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8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88.xml"/><Relationship Id="rId3" Type="http://schemas.openxmlformats.org/officeDocument/2006/relationships/image" Target="../media/image48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8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1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2"/>
          <p:cNvCxnSpPr/>
          <p:nvPr/>
        </p:nvCxnSpPr>
        <p:spPr>
          <a:xfrm>
            <a:off x="3663636" y="5399972"/>
            <a:ext cx="0" cy="487500"/>
          </a:xfrm>
          <a:prstGeom prst="straightConnector1">
            <a:avLst/>
          </a:prstGeom>
          <a:noFill/>
          <a:ln w="12700" cap="flat" cmpd="sng">
            <a:solidFill>
              <a:schemeClr val="lt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894715" y="2817495"/>
            <a:ext cx="5360035" cy="1412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atin typeface="Montserrat" panose="00000500000000000000"/>
                <a:cs typeface="Montserrat" panose="00000500000000000000"/>
                <a:sym typeface="Montserrat" panose="00000500000000000000"/>
              </a:rPr>
              <a:t>第四期 LPDDR4模块的高速PCB布局布线设计</a:t>
            </a:r>
            <a:br>
              <a:rPr lang="en-US" b="1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r>
              <a:rPr lang="en-US" sz="1600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November</a:t>
            </a:r>
            <a:r>
              <a:rPr lang="zh-CN" altLang="en-US" sz="1600">
                <a:solidFill>
                  <a:schemeClr val="lt1"/>
                </a:solidFill>
                <a:latin typeface="Montserrat Medium" panose="00000600000000000000"/>
                <a:ea typeface="宋体" panose="02010600030101010101" pitchFamily="2" charset="-122"/>
                <a:cs typeface="Montserrat Medium" panose="00000600000000000000"/>
                <a:sym typeface="Montserrat Medium" panose="00000600000000000000"/>
              </a:rPr>
              <a:t>，</a:t>
            </a:r>
            <a:r>
              <a:rPr lang="en-US" altLang="zh-CN" sz="1600">
                <a:solidFill>
                  <a:schemeClr val="lt1"/>
                </a:solidFill>
                <a:latin typeface="Montserrat Medium" panose="00000600000000000000"/>
                <a:ea typeface="宋体" panose="02010600030101010101" pitchFamily="2" charset="-122"/>
                <a:cs typeface="Montserrat Medium" panose="00000600000000000000"/>
                <a:sym typeface="Montserrat Medium" panose="00000600000000000000"/>
              </a:rPr>
              <a:t>04</a:t>
            </a:r>
            <a:r>
              <a:rPr lang="en-US" sz="1600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, 2023</a:t>
            </a:r>
            <a:endParaRPr b="1"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subTitle" idx="1"/>
          </p:nvPr>
        </p:nvSpPr>
        <p:spPr>
          <a:xfrm>
            <a:off x="894800" y="5249419"/>
            <a:ext cx="2757300" cy="796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ea typeface="宋体" panose="02010600030101010101" pitchFamily="2" charset="-122"/>
              </a:rPr>
              <a:t>郑振宇</a:t>
            </a:r>
            <a:endParaRPr lang="zh-CN" altLang="en-US">
              <a:ea typeface="宋体" panose="02010600030101010101" pitchFamily="2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Kivy</a:t>
            </a:r>
            <a:endParaRPr b="0">
              <a:solidFill>
                <a:schemeClr val="lt1"/>
              </a:solidFill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pic>
        <p:nvPicPr>
          <p:cNvPr id="4" name="图片占位符 3" descr="微信图片_20231011214914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4118610" y="5144770"/>
            <a:ext cx="996950" cy="9969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6287" y="1175885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>
            <a:spLocks noGrp="1"/>
          </p:cNvSpPr>
          <p:nvPr>
            <p:ph type="title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ea typeface="宋体" panose="02010600030101010101" pitchFamily="2" charset="-122"/>
              </a:rPr>
              <a:t>讲师介绍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  <p:custDataLst>
              <p:tags r:id="rId1"/>
            </p:custDataLst>
          </p:nvPr>
        </p:nvSpPr>
        <p:spPr>
          <a:xfrm>
            <a:off x="541020" y="1183005"/>
            <a:ext cx="11082655" cy="1653540"/>
          </a:xfrm>
        </p:spPr>
        <p:txBody>
          <a:bodyPr/>
          <a:p>
            <a:pPr marL="0" algn="just" defTabSz="914400">
              <a:lnSpc>
                <a:spcPct val="130000"/>
              </a:lnSpc>
              <a:spcAft>
                <a:spcPts val="400"/>
              </a:spcAft>
              <a:buClrTx/>
              <a:buNone/>
            </a:pPr>
            <a:r>
              <a:rPr altLang="zh-CN" sz="1600" kern="1200" dirty="0">
                <a:solidFill>
                  <a:schemeClr val="tx2">
                    <a:lumMod val="10000"/>
                  </a:schemeClr>
                </a:solidFill>
                <a:latin typeface="+mn-ea"/>
                <a:ea typeface="+mn-ea"/>
                <a:cs typeface="+mn-cs"/>
              </a:rPr>
              <a:t>郑振宇，凡亿教育创始人，PCB联盟网论坛创始人，Altium原厂特邀讲师。擅长领域：X86，工控类，军工类，通讯类，消费类等高难度产品的pcb设计，长期致力于Altium Designer高速PCB设计软件的应用，对高速互联、高速DDR3\DDR4\EMI\emc\SI\PI等PCB处理技巧有足够的实战经验。著作有《Altium designer 21（中文版）电子设计速成实战宝典》等多本书籍。凡亿教育，让电子设计更简单，努力提高电子行业从业人员的电子技术能力而努力，在业界拥有极高的口碑，业界影响力一直在扩大，受到业界人士的广泛赞誉。</a:t>
            </a:r>
            <a:endParaRPr altLang="zh-CN" sz="1600" kern="1200" dirty="0">
              <a:solidFill>
                <a:schemeClr val="tx2">
                  <a:lumMod val="10000"/>
                </a:schemeClr>
              </a:solidFill>
              <a:latin typeface="+mn-ea"/>
              <a:ea typeface="+mn-ea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1340" y="3274695"/>
            <a:ext cx="2876550" cy="2276475"/>
          </a:xfrm>
          <a:prstGeom prst="rect">
            <a:avLst/>
          </a:prstGeom>
        </p:spPr>
      </p:pic>
      <p:pic>
        <p:nvPicPr>
          <p:cNvPr id="6" name="图片 5" descr="图怪兽抠图-162432633737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033510" y="3081655"/>
            <a:ext cx="3036570" cy="31229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640455" y="3274695"/>
            <a:ext cx="2781300" cy="2181225"/>
          </a:xfrm>
          <a:prstGeom prst="rect">
            <a:avLst/>
          </a:prstGeom>
        </p:spPr>
      </p:pic>
      <p:pic>
        <p:nvPicPr>
          <p:cNvPr id="101" name="图片 100"/>
          <p:cNvPicPr/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624320" y="3239770"/>
            <a:ext cx="2981960" cy="295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1701300" y="1505179"/>
            <a:ext cx="504000" cy="504000"/>
          </a:xfrm>
          <a:prstGeom prst="ellipse">
            <a:avLst/>
          </a:prstGeom>
          <a:solidFill>
            <a:srgbClr val="FDC1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400"/>
              <a:buFont typeface="Arial" panose="020B0604020202020204"/>
              <a:buNone/>
            </a:pPr>
            <a:r>
              <a:rPr lang="en-US" sz="1500" b="0" i="0" u="none" strike="noStrike" cap="none">
                <a:solidFill>
                  <a:srgbClr val="2D2D2D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701300" y="2206951"/>
            <a:ext cx="504000" cy="504000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"/>
              <a:buFont typeface="Arial" panose="020B0604020202020204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2</a:t>
            </a:r>
            <a:endParaRPr sz="1500" b="0" i="0" u="none" strike="noStrike" cap="none">
              <a:solidFill>
                <a:schemeClr val="lt1"/>
              </a:solidFill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701300" y="2945925"/>
            <a:ext cx="504000" cy="504000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"/>
              <a:buFont typeface="Arial" panose="020B0604020202020204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3</a:t>
            </a:r>
            <a:endParaRPr sz="1500" b="0" i="0" u="none" strike="noStrike" cap="none">
              <a:solidFill>
                <a:schemeClr val="lt1"/>
              </a:solidFill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701300" y="3648850"/>
            <a:ext cx="504000" cy="504000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"/>
              <a:buFont typeface="Arial" panose="020B0604020202020204"/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4</a:t>
            </a:r>
            <a:endParaRPr sz="1500" b="0" i="0" u="none" strike="noStrike" cap="none">
              <a:solidFill>
                <a:schemeClr val="lt1"/>
              </a:solidFill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1"/>
          </p:nvPr>
        </p:nvSpPr>
        <p:spPr>
          <a:xfrm>
            <a:off x="2405375" y="1473825"/>
            <a:ext cx="59184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DDR的总线分类及设计要求说明</a:t>
            </a:r>
            <a:endParaRPr lang="en-US" dirty="0"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2"/>
          </p:nvPr>
        </p:nvSpPr>
        <p:spPr>
          <a:xfrm>
            <a:off x="2405375" y="2169500"/>
            <a:ext cx="5918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PCB常用总线布线方法介绍</a:t>
            </a:r>
            <a:endParaRPr lang="en-US"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2"/>
          </p:nvPr>
        </p:nvSpPr>
        <p:spPr>
          <a:xfrm>
            <a:off x="2405375" y="2928225"/>
            <a:ext cx="5918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LPDDR4的PCB布线实战演示</a:t>
            </a:r>
            <a:endParaRPr lang="en-US"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2"/>
          </p:nvPr>
        </p:nvSpPr>
        <p:spPr>
          <a:xfrm>
            <a:off x="2405375" y="3631150"/>
            <a:ext cx="5918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ActiveRoute自动布线辅助工具介绍</a:t>
            </a:r>
            <a:endParaRPr lang="en-US"/>
          </a:p>
        </p:txBody>
      </p:sp>
      <p:sp>
        <p:nvSpPr>
          <p:cNvPr id="109" name="Google Shape;109;p14"/>
          <p:cNvSpPr/>
          <p:nvPr/>
        </p:nvSpPr>
        <p:spPr>
          <a:xfrm>
            <a:off x="1701300" y="4369475"/>
            <a:ext cx="504000" cy="504000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"/>
              <a:buFont typeface="Arial" panose="020B0604020202020204"/>
              <a:buNone/>
            </a:pPr>
            <a:r>
              <a:rPr lang="en-US" sz="1500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5</a:t>
            </a:r>
            <a:endParaRPr sz="1500" b="0" i="0" u="none" strike="noStrike" cap="none">
              <a:solidFill>
                <a:schemeClr val="lt1"/>
              </a:solidFill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2"/>
          </p:nvPr>
        </p:nvSpPr>
        <p:spPr>
          <a:xfrm>
            <a:off x="2405375" y="4351775"/>
            <a:ext cx="59184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互动交流/有奖答题</a:t>
            </a:r>
            <a:endParaRPr lang="en-US"/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/>
          </p:nvPr>
        </p:nvSpPr>
        <p:spPr>
          <a:xfrm>
            <a:off x="641675" y="332800"/>
            <a:ext cx="9577200" cy="5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>
                <a:ea typeface="宋体" panose="02010600030101010101" pitchFamily="2" charset="-122"/>
              </a:rPr>
              <a:t>直播目录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501953" y="631250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>
            <a:spLocks noGrp="1"/>
          </p:cNvSpPr>
          <p:nvPr>
            <p:ph type="title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1035" y="1134745"/>
            <a:ext cx="10227310" cy="191706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175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 3" panose="05040102010807070707" charset="0"/>
              <a:buNone/>
            </a:pPr>
            <a:r>
              <a:rPr lang="en-US" sz="1400" b="1" ker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什么是DDR（双倍速率同步动态随机存储器）</a:t>
            </a:r>
            <a:endParaRPr lang="en-US" sz="1400" b="1" kern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3175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 3" panose="05040102010807070707" charset="0"/>
              <a:buNone/>
            </a:pPr>
            <a:r>
              <a:rPr lang="en-US" sz="1400" ker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SDRAM: Synchronous Dynamic Random Access Memory, 同步动态随机存储器。</a:t>
            </a:r>
            <a:endParaRPr lang="en-US" sz="1400" kern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3175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 3" panose="05040102010807070707" charset="0"/>
              <a:buNone/>
            </a:pPr>
            <a:r>
              <a:rPr lang="en-US" sz="1400" ker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– 同步(Synchronous )指其总线工作在同步时序的方式下，由同一时钟同步触发。</a:t>
            </a:r>
            <a:endParaRPr lang="en-US" sz="1400" kern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3175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 3" panose="05040102010807070707" charset="0"/>
              <a:buNone/>
            </a:pPr>
            <a:r>
              <a:rPr lang="en-US" sz="1400" ker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– 动态(Dynamic )是指存储阵列需要不断的刷新来保证数据不丢失；</a:t>
            </a:r>
            <a:endParaRPr lang="en-US" sz="1400" kern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3175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 3" panose="05040102010807070707" charset="0"/>
              <a:buNone/>
            </a:pPr>
            <a:r>
              <a:rPr lang="en-US" sz="1400" kern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– 随机(Access )是指数据不是线性一次顺序存储的，而是自由指定地址进行数据的读写。</a:t>
            </a:r>
            <a:endParaRPr lang="en-US" sz="1400" kern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843645" y="3861435"/>
            <a:ext cx="2216785" cy="233616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22675" y="3832225"/>
            <a:ext cx="4768850" cy="235331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79120" y="3832225"/>
            <a:ext cx="2591435" cy="2313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>
            <a:spLocks noGrp="1"/>
          </p:cNvSpPr>
          <p:nvPr>
            <p:ph type="title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DDR的总线分类及设计要求说明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23240" y="4518660"/>
            <a:ext cx="5260975" cy="1615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indent="-31750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PS：速率越来越高，功耗越来越小</a:t>
            </a:r>
            <a:endParaRPr lang="en-US" sz="14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31750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1、DDR SDRAM：双倍数据率同步动态随机存取存储器；</a:t>
            </a:r>
            <a:endParaRPr lang="en-US" sz="14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2、DDR2 SDRAM：第二代双倍数据率同步动态随机存取存储器；</a:t>
            </a:r>
            <a:endParaRPr lang="en-US" sz="14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3、DDR3 SDRAM：第三代双倍数据率同步动态随机存取存储器；</a:t>
            </a:r>
            <a:endParaRPr lang="en-US" sz="14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4、DDR4 SDRAM：第四代双倍数据率同步动态随机存取存储器。</a:t>
            </a:r>
            <a:endParaRPr lang="en-US" sz="14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22975" y="1062355"/>
            <a:ext cx="5140960" cy="31330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4645" y="1053465"/>
            <a:ext cx="5513705" cy="31508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>
            <a:spLocks noGrp="1"/>
          </p:cNvSpPr>
          <p:nvPr>
            <p:ph type="title"/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" name="图片 3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8485" y="1884680"/>
            <a:ext cx="5015865" cy="15443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09285" y="2004695"/>
            <a:ext cx="5921375" cy="34569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5877560" y="5967730"/>
            <a:ext cx="57537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DDR4信号分组情况如下，黄色标识信号为DDR4相比DDR3新增的信号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78485" y="3668395"/>
            <a:ext cx="5015865" cy="26612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661035" y="1035685"/>
            <a:ext cx="10968990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indent="-317500" defTabSz="914400" eaLnBrk="1" latinLnBrk="0" hangingPunct="1">
              <a:lnSpc>
                <a:spcPct val="150000"/>
              </a:lnSpc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DDR4 是2014年9月推出的当今主流的内存标准，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目前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DDR4还是硬件设计中的生力军。从Micron SDRAM的产品线直观感受下不同代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SDRAM特性的对比。</a:t>
            </a:r>
            <a:endParaRPr lang="en-US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244840" y="4814570"/>
            <a:ext cx="3706495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36195" defTabSz="91440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直接通过信号分类来进行区分</a:t>
            </a:r>
            <a:endParaRPr lang="zh-CN" altLang="en-US" spc="16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、电源和</a:t>
            </a:r>
            <a:r>
              <a:rPr lang="en-US" altLang="zh-CN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GND</a:t>
            </a:r>
            <a:endParaRPr lang="en-US" altLang="zh-CN" spc="16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altLang="en-US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、数据线</a:t>
            </a:r>
            <a:endParaRPr lang="zh-CN" altLang="en-US" spc="16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</a:t>
            </a:r>
            <a:r>
              <a:rPr lang="zh-CN" altLang="en-US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、地址线、控制线、时钟线</a:t>
            </a:r>
            <a:endParaRPr lang="zh-CN" altLang="en-US" spc="16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9395" y="1454150"/>
            <a:ext cx="4211320" cy="4633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244840" y="1454150"/>
            <a:ext cx="3298190" cy="28174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75200" y="1454150"/>
            <a:ext cx="2767330" cy="46342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HDMI接口的PCB</a:t>
            </a:r>
            <a:r>
              <a:rPr lang="zh-CN">
                <a:ea typeface="宋体" panose="02010600030101010101" pitchFamily="2" charset="-122"/>
              </a:rPr>
              <a:t>布线</a:t>
            </a:r>
            <a:r>
              <a:t>要求</a:t>
            </a:r>
          </a:p>
        </p:txBody>
      </p:sp>
      <p:pic>
        <p:nvPicPr>
          <p:cNvPr id="3" name="图片 2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7490" y="1864995"/>
            <a:ext cx="5196840" cy="3857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37835" y="1864995"/>
            <a:ext cx="6177915" cy="38582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>
            <p:custDataLst>
              <p:tags r:id="rId1"/>
            </p:custDataLst>
          </p:nvPr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pic>
        <p:nvPicPr>
          <p:cNvPr id="103" name="图片 10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9745" y="1794510"/>
            <a:ext cx="6081395" cy="36690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826885" y="1794510"/>
            <a:ext cx="4613910" cy="36683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>
            <p:custDataLst>
              <p:tags r:id="rId1"/>
            </p:custDataLst>
          </p:nvPr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pic>
        <p:nvPicPr>
          <p:cNvPr id="103" name="图片 10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5440" y="3006725"/>
            <a:ext cx="2767330" cy="3218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20415" y="2921000"/>
            <a:ext cx="3649345" cy="31680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 rot="5400000">
            <a:off x="8133080" y="2311400"/>
            <a:ext cx="2476500" cy="438785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345440" y="1081405"/>
            <a:ext cx="10281920" cy="1292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indent="-317500" defTabSz="914400">
              <a:lnSpc>
                <a:spcPct val="150000"/>
              </a:lnSpc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DDR4</a:t>
            </a:r>
            <a:r>
              <a:rPr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地址线布局布线需使用Fly-by的拓扑结构，不可使用T型，拓扑过孔到管脚的长度尽量短，长度在150mil左右</a:t>
            </a:r>
            <a:r>
              <a:rPr lang="zh-CN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defTabSz="914400">
              <a:lnSpc>
                <a:spcPct val="150000"/>
              </a:lnSpc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VTT上拉电阻放置在相应网络的末端，即靠近最后一个DDR4颗粒的位置放置；</a:t>
            </a:r>
            <a:endParaRPr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defTabSz="914400">
              <a:lnSpc>
                <a:spcPct val="150000"/>
              </a:lnSpc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注意VTT上拉电阻到DDR4颗粒的走线越短越好，走线长度小于500mil；</a:t>
            </a:r>
            <a:endParaRPr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defTabSz="914400">
              <a:lnSpc>
                <a:spcPct val="150000"/>
              </a:lnSpc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每个VTT上拉电阻对应放置一个VTT的滤波电容（最多两个电阻共用一个电容）</a:t>
            </a:r>
            <a:r>
              <a:rPr lang="zh-CN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>
            <p:custDataLst>
              <p:tags r:id="rId1"/>
            </p:custDataLst>
          </p:nvPr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50290" y="2851150"/>
            <a:ext cx="3048635" cy="828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50290" y="3879215"/>
            <a:ext cx="3152140" cy="7645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34110" y="4844415"/>
            <a:ext cx="3031490" cy="133731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195570" y="2899410"/>
            <a:ext cx="4871085" cy="369316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1050290" y="6382385"/>
            <a:ext cx="281813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以LayoutGuide或仿真结果为准</a:t>
            </a:r>
            <a:endParaRPr lang="en-US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397510" y="1085215"/>
            <a:ext cx="11431905" cy="1615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indent="-3175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DDR</a:t>
            </a:r>
            <a:r>
              <a:rPr lang="zh-CN" altLang="en-US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DDR2</a:t>
            </a:r>
            <a:r>
              <a:rPr lang="zh-CN" altLang="en-US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DDR3</a:t>
            </a:r>
            <a:r>
              <a:rPr lang="zh-CN" altLang="en-US" sz="1400" b="1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的端接电阻摆放</a:t>
            </a:r>
            <a:endParaRPr lang="en-US" sz="1400" b="1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数据线串接电阻：一般放在DDR与控制器中间，并联电阻靠近串接电阻放置，可放于其背面，具体位置可由仿真决定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sz="14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DM信号是数据线的掩码：一般都是点到点的单向传输，要求串接电阻放在控制器端，并联电阻放在DDR端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en-US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3175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地址线、控制线、时钟线：是单向传输，且一般都是点到多点的拓扑结构。要求串联电阻靠近控制器端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-3175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 altLang="zh-CN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多个DDRx间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采用</a:t>
            </a:r>
            <a:r>
              <a:rPr lang="en-US" altLang="zh-CN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点分支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，分支尽量短且等长，并联电阻放在DDR端第一个T点处，长度不超过500mil；</a:t>
            </a:r>
            <a:endParaRPr lang="zh-CN" altLang="en-US" sz="140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>
            <p:custDataLst>
              <p:tags r:id="rId1"/>
            </p:custDataLst>
          </p:nvPr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821341" y="3043957"/>
            <a:ext cx="7859216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 smtClean="0">
              <a:latin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</a:rPr>
              <a:t>  </a:t>
            </a:r>
            <a:endParaRPr lang="en-US" altLang="zh-CN" dirty="0" smtClean="0">
              <a:latin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367665" y="1202690"/>
            <a:ext cx="10675620" cy="969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indent="-31750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）走菊花链拓扑的，并联电阻放在最后一个DDRx后面，长度不超过500mil。</a:t>
            </a:r>
            <a:endParaRPr lang="en-US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algn="l" defTabSz="91440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6）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差分时钟信号：是单向传输，串接电阻靠近控制器端，点到点的终端匹配电阻尽量靠近DDR，或放在DDR之后，点到多点，可以使用地址线的T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拓扑结构，终端匹配电阻放在第一个T点处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、菊花链结构摆放到最后一个</a:t>
            </a:r>
            <a:r>
              <a:rPr lang="en-US" altLang="zh-CN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</a:t>
            </a:r>
            <a:r>
              <a:rPr lang="zh-CN" alt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处！</a:t>
            </a:r>
            <a:endParaRPr lang="en-US" altLang="zh-CN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3" name="图片 102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864350" y="2353310"/>
            <a:ext cx="3205480" cy="35617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67665" y="5177155"/>
            <a:ext cx="5417185" cy="1063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7665" y="2353310"/>
            <a:ext cx="5390515" cy="267208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6746240" y="6013450"/>
            <a:ext cx="39439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DDR4</a:t>
            </a:r>
            <a:r>
              <a:rPr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地址线布局布线需使用Fly-by的拓扑结构</a:t>
            </a:r>
            <a:endParaRPr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终端匹配电阻摆放到最后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片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DDR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处！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522605" y="1135380"/>
            <a:ext cx="11132820" cy="9690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indent="-317500" algn="l" defTabSz="914400">
              <a:lnSpc>
                <a:spcPct val="150000"/>
              </a:lnSpc>
              <a:spcBef>
                <a:spcPts val="0"/>
              </a:spcBef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7、CPU端和DDR4颗粒端，每个引脚对应一个滤波电容，滤波电容尽可能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均匀布置并靠近IC电源管脚处</a:t>
            </a: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，走线短而粗，回路尽量短；CPU和颗粒周边均匀摆放一些储能电容，DDR4颗粒每片至少有一个储能电容。</a:t>
            </a:r>
            <a:endParaRPr lang="en-US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-317500" algn="l" defTabSz="914400">
              <a:lnSpc>
                <a:spcPct val="150000"/>
              </a:lnSpc>
              <a:spcBef>
                <a:spcPts val="0"/>
              </a:spcBef>
              <a:buSzPts val="1400"/>
              <a:buFontTx/>
              <a:buNone/>
            </a:pPr>
            <a:r>
              <a:rPr lang="en-US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8、Vref电源的退藕电容必须靠近DDR和CPU管脚</a:t>
            </a:r>
            <a:endParaRPr lang="en-US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2605" y="2742565"/>
            <a:ext cx="4863465" cy="2884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806440" y="2742565"/>
            <a:ext cx="5629275" cy="288353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794510" y="5807075"/>
            <a:ext cx="15233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滤波电容的摆放</a:t>
            </a:r>
            <a:endParaRPr lang="zh-CN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7859395" y="5807075"/>
            <a:ext cx="15233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Vref</a:t>
            </a:r>
            <a:r>
              <a:rPr lang="zh-CN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电容的摆放</a:t>
            </a:r>
            <a:endParaRPr lang="zh-CN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6240" y="3791585"/>
            <a:ext cx="4601210" cy="265557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313055" y="1125220"/>
            <a:ext cx="11479530" cy="25158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36195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1、特性阻抗:线宽和线间距必须满足阻抗控制，即单端线50ohm，差分线100ohm。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DQ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数据线每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11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根尽量走在同一层(D0~D7,DM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DBI0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,LDQS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0+LQDS0-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),(D8~D15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DM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DBI1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,LDQS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1+LQDS1-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)</a:t>
            </a:r>
            <a:endParaRPr spc="16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地址线是否同层不做要求。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为了减少过孔产生的Stub，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叠层布线层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优先布DQ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DQS，CLK等信号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如果BGA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布局在</a:t>
            </a:r>
            <a:r>
              <a:rPr lang="en-US" altLang="zh-CN" spc="160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op层，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DQ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线尽量的靠近bottom层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走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线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当BGA在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op层时，越靠近bottom层，过孔产生的stub越短，信号质量越好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考虑信号屏蔽，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除了从焊盘到过孔之间的短线外，所有的走线都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尽可能的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走带状线，即内层走线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algn="l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DQ和DBI数据线，组内要求满足3W间距，与其他组外信号之间保持至少4W；DQS和CLK距离其他信号间距做到5W以上；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数据线、地址（控制）线、时钟线之间的距离保持至少3W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空间允许的情况下,应该在它们走线之间加一根地线进行隔离。地线宽度推荐为15-30mil。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98160" y="3791585"/>
            <a:ext cx="5826760" cy="26555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63880" y="1242060"/>
            <a:ext cx="11000740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36195" algn="l" defTabSz="914400" fontAlgn="ctr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r>
              <a:rPr sz="1400" spc="160" dirty="0">
                <a:latin typeface="微软雅黑" panose="020B0503020204020204" charset="-122"/>
                <a:ea typeface="微软雅黑" panose="020B0503020204020204" charset="-122"/>
              </a:rPr>
              <a:t>微带线和带状线：对信号传播速度的影响</a:t>
            </a:r>
            <a:endParaRPr sz="1400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algn="l" defTabSz="914400" fontAlgn="ctr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r>
              <a:rPr sz="1400" spc="160" dirty="0">
                <a:latin typeface="微软雅黑" panose="020B0503020204020204" charset="-122"/>
                <a:ea typeface="微软雅黑" panose="020B0503020204020204" charset="-122"/>
              </a:rPr>
              <a:t>StripLine周围介质都是均匀的，对于常有的FR4基板，ξr接近于4，所以信号传播速度v=C/sqrt(4) =5.9in/ns约169ps/in</a:t>
            </a:r>
            <a:endParaRPr sz="1400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algn="l" defTabSz="914400" fontAlgn="ctr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endParaRPr sz="1400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algn="l" defTabSz="914400" fontAlgn="ctr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r>
              <a:rPr sz="1400" spc="160" dirty="0">
                <a:latin typeface="微软雅黑" panose="020B0503020204020204" charset="-122"/>
                <a:ea typeface="微软雅黑" panose="020B0503020204020204" charset="-122"/>
              </a:rPr>
              <a:t>对于Microstrip，有效介电常数为空气和FR4的平均，大小与场的分布有关系，传播速度接近6.5in/ns, 约154ps/in</a:t>
            </a:r>
            <a:endParaRPr sz="1400" spc="1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71220" y="3929380"/>
            <a:ext cx="4057650" cy="204851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05220" y="4001770"/>
            <a:ext cx="4012565" cy="190309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563880" y="3149600"/>
            <a:ext cx="1089533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36195" algn="l" defTabSz="914400" fontAlgn="ctr">
              <a:lnSpc>
                <a:spcPct val="130000"/>
              </a:lnSpc>
              <a:buClrTx/>
              <a:buSzTx/>
              <a:buNone/>
            </a:pPr>
            <a:r>
              <a:rPr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Microstrip具有更快的传播速度！尽量使用同组同层布线，表层走线和内层走线需要按照1.1 : 1的比例换算长度</a:t>
            </a:r>
            <a:endParaRPr spc="16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13055" y="1125220"/>
            <a:ext cx="11479530" cy="13976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marL="36195" algn="l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ZQ属于模拟信号，布线尽可能短，并且阻抗越低越好，所以尽可能的把线走宽一点，建议3倍50ohm阻抗控制的线宽；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algn="l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在过孔比较密集的BGA区域，同组内的数据线，地址线的间距可以缩小到2W，但是要求这样的走线尽可能的短，并且尽可能的走直线；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algn="l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如果空间允许，所有的信号线走线之间的间距尽可能的保证均匀美观；</a:t>
            </a:r>
            <a:endParaRPr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6195" algn="l" defTabSz="914400" eaLnBrk="1" fontAlgn="ctr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pc="160" dirty="0">
                <a:latin typeface="微软雅黑" panose="020B0503020204020204" charset="-122"/>
                <a:ea typeface="微软雅黑" panose="020B0503020204020204" charset="-122"/>
              </a:rPr>
              <a:t>内存信号与其他非内存信号之间应该保证4倍的介质层高的距离</a:t>
            </a:r>
            <a:r>
              <a:rPr lang="zh-CN" spc="160" dirty="0">
                <a:latin typeface="微软雅黑" panose="020B0503020204020204" charset="-122"/>
                <a:ea typeface="微软雅黑" panose="020B0503020204020204" charset="-122"/>
              </a:rPr>
              <a:t>，可以对其进行整体包地处理。</a:t>
            </a:r>
            <a:endParaRPr lang="zh-CN" spc="1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70120" y="3046730"/>
            <a:ext cx="7128510" cy="27006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16200000">
            <a:off x="1122045" y="2303145"/>
            <a:ext cx="2695575" cy="41821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437515" y="1184910"/>
            <a:ext cx="11209655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1" latinLnBrk="0" hangingPunct="1">
              <a:lnSpc>
                <a:spcPct val="100000"/>
              </a:lnSpc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所有信号线都不得跨分割，且有完整的参考平面，换层时，如果改变了参考层，要注意考虑增加回流地过孔或退藕电容。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 eaLnBrk="1" latinLnBrk="0" hangingPunct="1">
              <a:lnSpc>
                <a:spcPct val="100000"/>
              </a:lnSpc>
              <a:buSzTx/>
              <a:buFont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所有的内层走线都要求夹在两个参考平面之间，即相邻层不要有信号层，这样可以避免串扰和跨分割走线，走线到平面的边缘必须保持4mil以上的间距；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数据线参考平面优先两边都是GND，接受一边地，一边自身电源，但是到GND平面的距离要比到电源平面的距离要近；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对于地址线，控制信号，CLK来说，参考面首选GND和VDD，也可以选GND和GND。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4835" y="2797175"/>
            <a:ext cx="5780405" cy="3511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63030" y="2797175"/>
            <a:ext cx="5409565" cy="35648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47675" y="1050290"/>
            <a:ext cx="1160589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VDD（1.2V）电源是DDR4的核心电源，其引脚分布比较散，且电流相对会比较大，需要在电源平面分配一个区域给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它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通过电源层的平面电容和专用的一定数量的去耦电容，可以做到电源完整性。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fontAlgn="auto" latinLnBrk="0" hangingPunct="1">
              <a:lnSpc>
                <a:spcPct val="150000"/>
              </a:lnSpc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VTT（0.6V）电源，它不仅有严格的容差性，而且还有很大的瞬间电流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由于VTT是集中在上拉电阻处，不是很分散，且对电流有一定的要求，在处理VTT电源时，一般是在元件面同层通过铺铜直接连接，铜皮要有一定宽度（120mil）。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2" name="图片 11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9115" y="2700020"/>
            <a:ext cx="3867785" cy="36468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图片 112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785360" y="2700020"/>
            <a:ext cx="6736080" cy="36493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08280" y="1170940"/>
            <a:ext cx="1168717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Sz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VREF它承载的电流比较小</a:t>
            </a:r>
            <a:r>
              <a:rPr lang="zh-CN" altLang="en-US" spc="16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pc="160" dirty="0">
                <a:latin typeface="微软雅黑" panose="020B0503020204020204" charset="-122"/>
                <a:ea typeface="微软雅黑" panose="020B0503020204020204" charset="-122"/>
              </a:rPr>
              <a:t>它不需要非常宽的走线，注意铺铜或走线时，要先经过电容再接到芯片的电源引脚，不要从分压电阻那里直接接到芯片的电源引脚。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SzTx/>
              <a:buNone/>
            </a:pPr>
            <a:r>
              <a:rPr lang="en-US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4、VPP（2.5V）内存的激活供电，容差相对宽松，最小2.375V，最大2.75V。电流不大，一般走根粗线或者画块小铜皮即可。</a:t>
            </a:r>
            <a:endParaRPr lang="en-US" spc="16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5" name="图片 114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11545" y="2934335"/>
            <a:ext cx="5883275" cy="26784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4330" y="2934335"/>
            <a:ext cx="5335270" cy="2733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sp>
        <p:nvSpPr>
          <p:cNvPr id="7" name="Rectang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72415" y="2645410"/>
            <a:ext cx="11647805" cy="32772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</a:lstStyle>
          <a:p>
            <a:pPr marL="0" lvl="0" indent="0" eaLnBrk="1" fontAlgn="auto" latinLnBrk="0" hangingPunct="1"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等长规则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0" indent="0" eaLnBrk="1" fontAlgn="auto" latinLnBrk="0" hangingPunct="1">
              <a:lnSpc>
                <a:spcPct val="150000"/>
              </a:lnSpc>
            </a:pP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1、数据线以DQS为基准等长，地址线、控制线、时钟线以时钟线为基准等长，若软件中没有以时钟线为基准的，要手动将其选为基准线。</a:t>
            </a:r>
            <a:endParaRPr sz="1400" spc="16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eaLnBrk="1" fontAlgn="auto" latinLnBrk="0" hangingPunct="1">
              <a:lnSpc>
                <a:spcPct val="150000"/>
              </a:lnSpc>
            </a:pP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数据走线尽量短，不要超过2000mil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分组做等长</a:t>
            </a:r>
            <a:r>
              <a:rPr lang="zh-CN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组内长度误差范围控制在+/-</a:t>
            </a:r>
            <a:r>
              <a:rPr 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mil</a:t>
            </a:r>
            <a:r>
              <a:rPr lang="zh-CN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sz="1400" spc="16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eaLnBrk="1" fontAlgn="auto" latinLnBrk="0" hangingPunct="1">
              <a:lnSpc>
                <a:spcPct val="150000"/>
              </a:lnSpc>
            </a:pP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3、DQS、时钟差分对内误差范围控制在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+/-2mil</a:t>
            </a:r>
            <a:r>
              <a:rPr lang="zh-CN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范围内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，设计阻抗时，使对内间距不超过2倍线宽。</a:t>
            </a:r>
            <a:endParaRPr sz="1400" spc="16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eaLnBrk="1" fontAlgn="auto" latinLnBrk="0" hangingPunct="1">
              <a:lnSpc>
                <a:spcPct val="150000"/>
              </a:lnSpc>
            </a:pPr>
            <a:r>
              <a:rPr 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地址线、控制线、时钟线作为一组等长，组内等长参考CLK误差范围控制在+/-10mil；</a:t>
            </a:r>
            <a:endParaRPr sz="1400" spc="16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eaLnBrk="1" fontAlgn="auto" latinLnBrk="0" hangingPunct="1">
              <a:lnSpc>
                <a:spcPct val="150000"/>
              </a:lnSpc>
            </a:pPr>
            <a:r>
              <a:rPr 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RESET和ALERT不需要做等长控制</a:t>
            </a:r>
            <a:endParaRPr sz="1400" spc="16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eaLnBrk="1" fontAlgn="auto" latinLnBrk="0" hangingPunct="1">
              <a:lnSpc>
                <a:spcPct val="150000"/>
              </a:lnSpc>
            </a:pPr>
            <a:r>
              <a:rPr 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信号实际长度应当包括零件管脚的长度，尽量取得零件管脚长度，并导入软件中；</a:t>
            </a:r>
            <a:endParaRPr sz="1400" spc="16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0" indent="0" eaLnBrk="1" fontAlgn="auto" latinLnBrk="0" hangingPunct="1">
              <a:lnSpc>
                <a:spcPct val="150000"/>
              </a:lnSpc>
            </a:pPr>
            <a:r>
              <a:rPr 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sz="1400" spc="160" dirty="0"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因有些IC内核设计比较特别，按新品设计指导书或说明按参考板做，特别是Intel，AMD的芯片，请特别留意芯片手册要求</a:t>
            </a: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sz="1400" spc="160" dirty="0"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8" name="Rectangle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72415" y="1073150"/>
            <a:ext cx="11535410" cy="14262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</a:lstStyle>
          <a:p>
            <a:pPr lvl="0" algn="l" eaLnBrk="1" hangingPunct="1">
              <a:lnSpc>
                <a:spcPct val="150000"/>
              </a:lnSpc>
              <a:buSzTx/>
              <a:buNone/>
            </a:pPr>
            <a:r>
              <a:rPr lang="en-US" sz="1400" b="1" spc="160" dirty="0">
                <a:latin typeface="微软雅黑" panose="020B0503020204020204" charset="-122"/>
                <a:ea typeface="微软雅黑" panose="020B0503020204020204" charset="-122"/>
              </a:rPr>
              <a:t>数据分组</a:t>
            </a:r>
            <a:endParaRPr lang="en-US" sz="1400" b="1" spc="16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eaLnBrk="1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</a:pP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1、低八位数据组DDR_data：</a:t>
            </a: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D0~D7,DM0（DBI0）,LDQS0+LQDS0-    11</a:t>
            </a: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根数据线</a:t>
            </a:r>
            <a:endParaRPr lang="en-US" sz="1400" spc="16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eaLnBrk="1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</a:pP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2、高八位数据组DDR_data：D8~D15,</a:t>
            </a: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DM1（DBI1）,LDQS1+LQDS1- </a:t>
            </a: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11根数据线</a:t>
            </a:r>
            <a:endParaRPr lang="en-US" sz="1400" spc="16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eaLnBrk="1" hangingPunct="1">
              <a:lnSpc>
                <a:spcPct val="150000"/>
              </a:lnSpc>
              <a:spcBef>
                <a:spcPts val="0"/>
              </a:spcBef>
              <a:buSzTx/>
              <a:buFontTx/>
              <a:buNone/>
            </a:pPr>
            <a:r>
              <a:rPr lang="en-US" sz="1400" spc="16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3、地址线,控制线,时钟线设为一组：DDR_addr</a:t>
            </a:r>
            <a:endParaRPr lang="en-US" sz="1400" spc="16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7400" y="1906270"/>
            <a:ext cx="7276465" cy="4089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18" name="Rectangle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5965" y="1127125"/>
            <a:ext cx="11535410" cy="6388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</a:lstStyle>
          <a:p>
            <a:pPr lvl="0" algn="l" eaLnBrk="1" hangingPunct="1">
              <a:lnSpc>
                <a:spcPct val="150000"/>
              </a:lnSpc>
              <a:buSzTx/>
              <a:buNone/>
            </a:pPr>
            <a:r>
              <a:rPr lang="en-US" sz="1400" b="1" spc="160" dirty="0">
                <a:latin typeface="微软雅黑" panose="020B0503020204020204" charset="-122"/>
                <a:ea typeface="微软雅黑" panose="020B0503020204020204" charset="-122"/>
              </a:rPr>
              <a:t>DQS</a:t>
            </a:r>
            <a:r>
              <a:rPr lang="zh-CN" altLang="en-US" sz="1400" b="1" spc="160" dirty="0">
                <a:latin typeface="微软雅黑" panose="020B0503020204020204" charset="-122"/>
                <a:ea typeface="微软雅黑" panose="020B0503020204020204" charset="-122"/>
              </a:rPr>
              <a:t>差分、时钟差分对内等长注意事项：</a:t>
            </a:r>
            <a:endParaRPr lang="zh-CN" altLang="en-US" sz="1400" b="1" spc="16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Google Shape;331;p29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0797" y="319763"/>
            <a:ext cx="9236100" cy="4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+mn-ea"/>
              </a:rPr>
              <a:t>DDR的总线分类及设计要求说明</a:t>
            </a:r>
            <a:endParaRPr lang="en-US"/>
          </a:p>
        </p:txBody>
      </p:sp>
      <p:sp>
        <p:nvSpPr>
          <p:cNvPr id="9218" name="Rectang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133725" y="3182620"/>
            <a:ext cx="6678930" cy="63881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</a:lstStyle>
          <a:p>
            <a:pPr lvl="0" algn="l" eaLnBrk="1" hangingPunct="1">
              <a:lnSpc>
                <a:spcPct val="150000"/>
              </a:lnSpc>
              <a:buSzTx/>
              <a:buNone/>
            </a:pPr>
            <a:r>
              <a:rPr lang="en-US" sz="3200" b="1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PCB</a:t>
            </a:r>
            <a:r>
              <a:rPr lang="zh-CN" altLang="en-US" sz="3200" b="1" spc="16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设计布线实战演示操作</a:t>
            </a:r>
            <a:endParaRPr lang="zh-CN" altLang="en-US" sz="3200" b="1" spc="16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709950" y="2652864"/>
            <a:ext cx="10772100" cy="77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互动交流/有奖答题</a:t>
            </a:r>
            <a:endParaRPr lang="en-US"/>
          </a:p>
        </p:txBody>
      </p:sp>
      <p:sp>
        <p:nvSpPr>
          <p:cNvPr id="370" name="Google Shape;370;p34"/>
          <p:cNvSpPr txBox="1">
            <a:spLocks noGrp="1"/>
          </p:cNvSpPr>
          <p:nvPr>
            <p:ph type="subTitle" idx="1"/>
          </p:nvPr>
        </p:nvSpPr>
        <p:spPr>
          <a:xfrm>
            <a:off x="1406250" y="3424175"/>
            <a:ext cx="936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Communication/ questions</a:t>
            </a:r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5" name="Google Shape;375;p35"/>
          <p:cNvSpPr txBox="1">
            <a:spLocks noGrp="1"/>
          </p:cNvSpPr>
          <p:nvPr>
            <p:custDataLst>
              <p:tags r:id="rId1"/>
            </p:custDataLst>
          </p:nvPr>
        </p:nvSpPr>
        <p:spPr>
          <a:xfrm>
            <a:off x="640735" y="1764519"/>
            <a:ext cx="10772100" cy="771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ontserrat ExtraBold" panose="00000900000000000000"/>
              <a:buNone/>
              <a:defRPr sz="4800" b="1" i="0" u="none" strike="noStrike" cap="none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 txBox="1">
            <a:spLocks noGrp="1"/>
          </p:cNvSpPr>
          <p:nvPr>
            <p:ph type="title"/>
          </p:nvPr>
        </p:nvSpPr>
        <p:spPr>
          <a:xfrm>
            <a:off x="4356986" y="4449412"/>
            <a:ext cx="30582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dirty="0"/>
              <a:t>Altium </a:t>
            </a:r>
            <a:r>
              <a:rPr lang="zh-CN" altLang="en-US" sz="1800" b="1" dirty="0"/>
              <a:t>微信公众号</a:t>
            </a:r>
            <a:endParaRPr sz="1800" b="1" dirty="0"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1"/>
          </p:nvPr>
        </p:nvSpPr>
        <p:spPr>
          <a:xfrm>
            <a:off x="4568018" y="4849849"/>
            <a:ext cx="2662200" cy="5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dirty="0"/>
              <a:t>扫码关注</a:t>
            </a:r>
            <a:r>
              <a:rPr lang="en-US" altLang="zh-CN" sz="1400" dirty="0"/>
              <a:t>Altium</a:t>
            </a:r>
            <a:r>
              <a:rPr lang="zh-CN" altLang="en-US" sz="1400" dirty="0"/>
              <a:t>公众号，第一时间获取活动和产品信息</a:t>
            </a:r>
            <a:endParaRPr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57870" y="4449412"/>
            <a:ext cx="3058200" cy="976161"/>
            <a:chOff x="457870" y="4839649"/>
            <a:chExt cx="3058200" cy="976161"/>
          </a:xfrm>
        </p:grpSpPr>
        <p:sp>
          <p:nvSpPr>
            <p:cNvPr id="9" name="Google Shape;386;p37"/>
            <p:cNvSpPr txBox="1"/>
            <p:nvPr/>
          </p:nvSpPr>
          <p:spPr>
            <a:xfrm>
              <a:off x="457870" y="4839649"/>
              <a:ext cx="3058200" cy="5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Montserrat ExtraBold" panose="00000900000000000000"/>
                <a:buNone/>
                <a:defRPr sz="2700" b="0" i="0" u="none" strike="noStrike" cap="none">
                  <a:solidFill>
                    <a:schemeClr val="lt1"/>
                  </a:solidFill>
                  <a:latin typeface="Montserrat ExtraBold" panose="00000900000000000000"/>
                  <a:ea typeface="Montserrat ExtraBold" panose="00000900000000000000"/>
                  <a:cs typeface="Montserrat ExtraBold" panose="00000900000000000000"/>
                  <a:sym typeface="Montserrat ExtraBold" panose="00000900000000000000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r>
                <a:rPr lang="en-US" altLang="zh-CN" sz="1800" b="1" dirty="0" err="1"/>
                <a:t>DigiPCBA</a:t>
              </a:r>
              <a:r>
                <a:rPr lang="en-US" altLang="zh-CN" sz="1800" b="1" dirty="0"/>
                <a:t> </a:t>
              </a:r>
              <a:endParaRPr lang="zh-CN" altLang="en-US" sz="1800" b="1" dirty="0"/>
            </a:p>
          </p:txBody>
        </p:sp>
        <p:sp>
          <p:nvSpPr>
            <p:cNvPr id="10" name="Google Shape;387;p37"/>
            <p:cNvSpPr txBox="1"/>
            <p:nvPr/>
          </p:nvSpPr>
          <p:spPr>
            <a:xfrm>
              <a:off x="660797" y="5249110"/>
              <a:ext cx="2662200" cy="5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Montserrat Medium" panose="00000600000000000000"/>
                <a:buNone/>
                <a:defRPr sz="1800" b="0" i="0" u="none" strike="noStrike" cap="none">
                  <a:solidFill>
                    <a:schemeClr val="dk2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Montserrat Medium" panose="00000600000000000000"/>
                <a:buNone/>
                <a:defRPr sz="1400" b="0" i="0" u="none" strike="noStrike" cap="none">
                  <a:solidFill>
                    <a:schemeClr val="lt1"/>
                  </a:solidFill>
                  <a:latin typeface="Montserrat Medium" panose="00000600000000000000"/>
                  <a:ea typeface="Montserrat Medium" panose="00000600000000000000"/>
                  <a:cs typeface="Montserrat Medium" panose="00000600000000000000"/>
                  <a:sym typeface="Montserrat Medium" panose="00000600000000000000"/>
                </a:defRPr>
              </a:lvl9pPr>
            </a:lstStyle>
            <a:p>
              <a:pPr marL="0" indent="0"/>
              <a:r>
                <a:rPr lang="zh-CN" altLang="en-US" sz="1400" dirty="0"/>
                <a:t>扫码注册电子设计云端平台</a:t>
              </a:r>
              <a:endParaRPr lang="en-US" altLang="zh-CN" sz="1400" dirty="0"/>
            </a:p>
            <a:p>
              <a:pPr marL="0" indent="0"/>
              <a:r>
                <a:rPr lang="en-US" altLang="zh-CN" sz="1400" dirty="0"/>
                <a:t>——</a:t>
              </a:r>
              <a:r>
                <a:rPr lang="en-US" altLang="zh-CN" sz="1400" dirty="0" err="1"/>
                <a:t>DigiPCBA</a:t>
              </a:r>
              <a:endParaRPr lang="zh-CN" altLang="en-US" sz="1400" dirty="0"/>
            </a:p>
          </p:txBody>
        </p:sp>
      </p:grpSp>
      <p:pic>
        <p:nvPicPr>
          <p:cNvPr id="14" name="Picture 13" descr="Qr cod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8650" y="1415777"/>
            <a:ext cx="2760216" cy="2753613"/>
          </a:xfrm>
          <a:prstGeom prst="rect">
            <a:avLst/>
          </a:prstGeom>
        </p:spPr>
      </p:pic>
      <p:pic>
        <p:nvPicPr>
          <p:cNvPr id="18" name="Picture Placeholder 17" descr="Qr code&#10;&#10;Description automatically generated"/>
          <p:cNvPicPr>
            <a:picLocks noGrp="1" noChangeAspect="1"/>
          </p:cNvPicPr>
          <p:nvPr>
            <p:ph type="pic" idx="5"/>
          </p:nvPr>
        </p:nvPicPr>
        <p:blipFill>
          <a:blip r:embed="rId2"/>
          <a:srcRect/>
          <a:stretch>
            <a:fillRect/>
          </a:stretch>
        </p:blipFill>
        <p:spPr>
          <a:xfrm>
            <a:off x="660797" y="1441451"/>
            <a:ext cx="2727940" cy="2727940"/>
          </a:xfrm>
        </p:spPr>
      </p:pic>
      <p:pic>
        <p:nvPicPr>
          <p:cNvPr id="22" name="Picture Placeholder 21" descr="Qr code&#10;&#10;Description automatically generated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433800" y="1415778"/>
            <a:ext cx="2753613" cy="2753613"/>
          </a:xfrm>
        </p:spPr>
      </p:pic>
      <p:sp>
        <p:nvSpPr>
          <p:cNvPr id="23" name="Google Shape;386;p37"/>
          <p:cNvSpPr txBox="1"/>
          <p:nvPr/>
        </p:nvSpPr>
        <p:spPr>
          <a:xfrm>
            <a:off x="8238144" y="4358966"/>
            <a:ext cx="30582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Montserrat ExtraBold" panose="00000900000000000000"/>
              <a:buNone/>
              <a:defRPr sz="2700" b="0" i="0" u="none" strike="noStrike" cap="none">
                <a:solidFill>
                  <a:schemeClr val="lt1"/>
                </a:solidFill>
                <a:latin typeface="Montserrat ExtraBold" panose="00000900000000000000"/>
                <a:ea typeface="Montserrat ExtraBold" panose="00000900000000000000"/>
                <a:cs typeface="Montserrat ExtraBold" panose="00000900000000000000"/>
                <a:sym typeface="Montserrat ExtraBold" panose="000009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altLang="zh-CN" sz="1800" b="1" dirty="0"/>
              <a:t>Altium</a:t>
            </a:r>
            <a:r>
              <a:rPr lang="zh-CN" altLang="en-US" sz="1800" b="1" dirty="0"/>
              <a:t>交流群</a:t>
            </a:r>
            <a:endParaRPr lang="zh-CN" altLang="en-US" sz="1800" b="1" dirty="0"/>
          </a:p>
        </p:txBody>
      </p:sp>
      <p:sp>
        <p:nvSpPr>
          <p:cNvPr id="24" name="Google Shape;387;p37"/>
          <p:cNvSpPr txBox="1"/>
          <p:nvPr/>
        </p:nvSpPr>
        <p:spPr>
          <a:xfrm>
            <a:off x="8449175" y="4759403"/>
            <a:ext cx="2721517" cy="94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 Medium" panose="00000600000000000000"/>
              <a:buNone/>
              <a:defRPr sz="1800" b="0" i="0" u="none" strike="noStrike" cap="none">
                <a:solidFill>
                  <a:schemeClr val="dk2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 panose="00000600000000000000"/>
              <a:buNone/>
              <a:defRPr sz="1400" b="0" i="0" u="none" strike="noStrike" cap="none">
                <a:solidFill>
                  <a:schemeClr val="lt1"/>
                </a:solidFill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defRPr>
            </a:lvl9pPr>
          </a:lstStyle>
          <a:p>
            <a:pPr marL="0" indent="0"/>
            <a:r>
              <a:rPr lang="zh-CN" altLang="en-US" sz="1400" dirty="0"/>
              <a:t>扫码添加</a:t>
            </a:r>
            <a:r>
              <a:rPr lang="en-US" altLang="zh-CN" sz="1400" dirty="0"/>
              <a:t>Altium</a:t>
            </a:r>
            <a:r>
              <a:rPr lang="zh-CN" altLang="en-US" sz="1400" dirty="0"/>
              <a:t>微信，拉您进群领取资料，与小伙伴和老师一起交流学习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 txBox="1">
            <a:spLocks noGrp="1"/>
          </p:cNvSpPr>
          <p:nvPr>
            <p:ph type="subTitle" idx="1"/>
          </p:nvPr>
        </p:nvSpPr>
        <p:spPr>
          <a:xfrm>
            <a:off x="1406250" y="3079650"/>
            <a:ext cx="936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you!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10556544" y="629974"/>
            <a:ext cx="1357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  <a:ea typeface="+mn-ea"/>
              </a:rPr>
              <a:t>官方周末培训</a:t>
            </a:r>
            <a:endParaRPr 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commondata" val="eyJoZGlkIjoiN2YzNjBkOTgyNWQ1YTMxYzM3MzMwNWFiODNmOWIzYWMifQ=="/>
</p:tagLst>
</file>

<file path=ppt/theme/theme1.xml><?xml version="1.0" encoding="utf-8"?>
<a:theme xmlns:a="http://schemas.openxmlformats.org/drawingml/2006/main" name="AD22">
  <a:themeElements>
    <a:clrScheme name="Office">
      <a:dk1>
        <a:srgbClr val="FDC15F"/>
      </a:dk1>
      <a:lt1>
        <a:srgbClr val="FFFFFF"/>
      </a:lt1>
      <a:dk2>
        <a:srgbClr val="BFBFBF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4185</Words>
  <Application>WPS 演示</Application>
  <PresentationFormat>Widescreen</PresentationFormat>
  <Paragraphs>245</Paragraphs>
  <Slides>25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Arial</vt:lpstr>
      <vt:lpstr>Montserrat ExtraBold</vt:lpstr>
      <vt:lpstr>Montserrat Medium</vt:lpstr>
      <vt:lpstr>Montserrat</vt:lpstr>
      <vt:lpstr>Calibri</vt:lpstr>
      <vt:lpstr>Wingdings 3</vt:lpstr>
      <vt:lpstr>微软雅黑</vt:lpstr>
      <vt:lpstr>Arial Unicode MS</vt:lpstr>
      <vt:lpstr>AD22</vt:lpstr>
      <vt:lpstr>第四期 LPDDR4模块的高速PCB布局布线设计 November，04, 2023</vt:lpstr>
      <vt:lpstr>讲师介绍</vt:lpstr>
      <vt:lpstr>直播目录</vt:lpstr>
      <vt:lpstr>HDMI接口的PCB布局要求</vt:lpstr>
      <vt:lpstr>HDMI接口的PCB布局要求</vt:lpstr>
      <vt:lpstr>HDMI接口的PCB布线要求</vt:lpstr>
      <vt:lpstr>HDMI接口的PCB布线要求</vt:lpstr>
      <vt:lpstr>HDMI接口的PCB布线要求</vt:lpstr>
      <vt:lpstr>USB接口的PCB布局要求</vt:lpstr>
      <vt:lpstr>USB接口的PCB布线要求</vt:lpstr>
      <vt:lpstr>USB接口的PCB布线要求</vt:lpstr>
      <vt:lpstr>USB接口的PCB布线要求</vt:lpstr>
      <vt:lpstr>Typec接口的PCB布局布线要求</vt:lpstr>
      <vt:lpstr>Typec接口的PCB布局布线要求</vt:lpstr>
      <vt:lpstr>RJ45接口的PCB设计要求</vt:lpstr>
      <vt:lpstr>RJ45接口的PCB设计要求</vt:lpstr>
      <vt:lpstr>RJ45接口的PCB设计要求</vt:lpstr>
      <vt:lpstr>RJ45接口的PCB设计要求</vt:lpstr>
      <vt:lpstr>RJ45接口的PCB设计要求</vt:lpstr>
      <vt:lpstr>RJ45接口的PCB设计要求</vt:lpstr>
      <vt:lpstr>DCDC电源的电路分析-环路认识</vt:lpstr>
      <vt:lpstr>DDR的总线分类及设计要求说明</vt:lpstr>
      <vt:lpstr>互动交流/有奖答题</vt:lpstr>
      <vt:lpstr>Altium 微信公众号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 May 17, 2022</dc:title>
  <dc:creator>Drapun Anna</dc:creator>
  <cp:lastModifiedBy>凡亿电路郑振宇</cp:lastModifiedBy>
  <cp:revision>370</cp:revision>
  <dcterms:created xsi:type="dcterms:W3CDTF">2023-10-11T13:43:00Z</dcterms:created>
  <dcterms:modified xsi:type="dcterms:W3CDTF">2023-11-03T14:29:50Z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9E13C1024BB348C49DC7D8C069445E4F_12</vt:lpwstr>
  </property>
  <property fmtid="{D5CDD505-2E9C-101B-9397-08002B2CF9AE}" pid="3" name="KSOProductBuildVer">
    <vt:lpwstr>2052-12.1.0.15712</vt:lpwstr>
  </property>
</Properties>
</file>